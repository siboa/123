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89" r:id="rId3"/>
  </p:sldMasterIdLst>
  <p:notesMasterIdLst>
    <p:notesMasterId r:id="rId14"/>
  </p:notesMasterIdLst>
  <p:sldIdLst>
    <p:sldId id="275" r:id="rId4"/>
    <p:sldId id="263" r:id="rId5"/>
    <p:sldId id="264" r:id="rId6"/>
    <p:sldId id="265" r:id="rId7"/>
    <p:sldId id="271" r:id="rId8"/>
    <p:sldId id="266" r:id="rId9"/>
    <p:sldId id="272" r:id="rId10"/>
    <p:sldId id="267" r:id="rId11"/>
    <p:sldId id="268" r:id="rId12"/>
    <p:sldId id="26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D4F43F-DE82-45D5-A4C3-6584B23FB0BD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1E55D2-1F0C-490A-80FB-B836CD952D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452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2"/>
          <p:cNvSpPr>
            <a:spLocks noGrp="1"/>
          </p:cNvSpPr>
          <p:nvPr>
            <p:ph type="dt" sz="quarter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86A5D2-F62D-4D81-A3E2-1D695B940D9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3569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89A36B-F481-4598-B730-388A85BA3A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561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89A36B-F481-4598-B730-388A85BA3A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75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itchFamily="34" charset="0"/>
            </a:endParaRPr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38188" indent="-2841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36650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592263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46288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034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606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178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750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9247A7-73B1-448E-B7C3-3C3A09A2479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697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itchFamily="34" charset="0"/>
            </a:endParaRPr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38188" indent="-2841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36650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592263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46288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034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606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178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750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9247A7-73B1-448E-B7C3-3C3A09A2479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675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itchFamily="34" charset="0"/>
            </a:endParaRPr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38188" indent="-2841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36650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592263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46288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034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606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178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750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9247A7-73B1-448E-B7C3-3C3A09A2479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9143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PBand0"/>
          <p:cNvSpPr>
            <a:spLocks noGrp="1" noChangeArrowheads="1"/>
          </p:cNvSpPr>
          <p:nvPr>
            <p:ph type="ctrTitle"/>
          </p:nvPr>
        </p:nvSpPr>
        <p:spPr>
          <a:xfrm>
            <a:off x="1390651" y="4643437"/>
            <a:ext cx="9563100" cy="577851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副标题 4"/>
          <p:cNvSpPr>
            <a:spLocks noGrp="1"/>
          </p:cNvSpPr>
          <p:nvPr>
            <p:ph type="subTitle" idx="4294967295"/>
          </p:nvPr>
        </p:nvSpPr>
        <p:spPr>
          <a:xfrm>
            <a:off x="2029886" y="5287963"/>
            <a:ext cx="8257116" cy="647700"/>
          </a:xfrm>
        </p:spPr>
        <p:txBody>
          <a:bodyPr/>
          <a:lstStyle/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5" name="Picture 2" descr="C:\Users\fanliyuan\Desktop\PPT模板-25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95125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 baseline="0">
                <a:latin typeface="Verdana" pitchFamily="34" charset="0"/>
                <a:ea typeface="微软雅黑" pitchFamily="34" charset="-122"/>
              </a:defRPr>
            </a:lvl1pPr>
            <a:lvl2pPr>
              <a:defRPr baseline="0">
                <a:latin typeface="Verdana" pitchFamily="34" charset="0"/>
                <a:ea typeface="微软雅黑" pitchFamily="34" charset="-122"/>
              </a:defRPr>
            </a:lvl2pPr>
            <a:lvl3pPr>
              <a:defRPr sz="1800" baseline="0">
                <a:latin typeface="Verdana" pitchFamily="34" charset="0"/>
                <a:ea typeface="微软雅黑" pitchFamily="34" charset="-122"/>
              </a:defRPr>
            </a:lvl3pPr>
            <a:lvl4pPr>
              <a:defRPr baseline="0">
                <a:latin typeface="Verdana" pitchFamily="34" charset="0"/>
                <a:ea typeface="微软雅黑" pitchFamily="34" charset="-122"/>
              </a:defRPr>
            </a:lvl4pPr>
            <a:lvl5pPr>
              <a:defRPr baseline="0">
                <a:latin typeface="Verdana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94419"/>
            <a:ext cx="1218837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217273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09899631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5517" y="1125537"/>
            <a:ext cx="5509683" cy="5327651"/>
          </a:xfrm>
        </p:spPr>
        <p:txBody>
          <a:bodyPr/>
          <a:lstStyle>
            <a:lvl1pPr>
              <a:defRPr sz="2400" baseline="0">
                <a:latin typeface="Verdana" pitchFamily="34" charset="0"/>
                <a:ea typeface="微软雅黑" pitchFamily="34" charset="-122"/>
              </a:defRPr>
            </a:lvl1pPr>
            <a:lvl2pPr>
              <a:defRPr sz="2000" baseline="0">
                <a:latin typeface="Verdana" pitchFamily="34" charset="0"/>
                <a:ea typeface="微软雅黑" pitchFamily="34" charset="-122"/>
              </a:defRPr>
            </a:lvl2pPr>
            <a:lvl3pPr>
              <a:defRPr sz="1800" baseline="0">
                <a:latin typeface="Verdana" pitchFamily="34" charset="0"/>
                <a:ea typeface="微软雅黑" pitchFamily="34" charset="-122"/>
              </a:defRPr>
            </a:lvl3pPr>
            <a:lvl4pPr>
              <a:defRPr sz="1600" baseline="0">
                <a:latin typeface="Verdana" pitchFamily="34" charset="0"/>
                <a:ea typeface="微软雅黑" pitchFamily="34" charset="-122"/>
              </a:defRPr>
            </a:lvl4pPr>
            <a:lvl5pPr>
              <a:defRPr sz="1600" baseline="0">
                <a:latin typeface="Verdana" pitchFamily="34" charset="0"/>
                <a:ea typeface="微软雅黑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125537"/>
            <a:ext cx="5511800" cy="5327651"/>
          </a:xfrm>
        </p:spPr>
        <p:txBody>
          <a:bodyPr/>
          <a:lstStyle>
            <a:lvl1pPr>
              <a:defRPr sz="2400" baseline="0">
                <a:latin typeface="Verdana" pitchFamily="34" charset="0"/>
                <a:ea typeface="微软雅黑" pitchFamily="34" charset="-122"/>
              </a:defRPr>
            </a:lvl1pPr>
            <a:lvl2pPr>
              <a:defRPr sz="2000" baseline="0">
                <a:latin typeface="Verdana" pitchFamily="34" charset="0"/>
                <a:ea typeface="微软雅黑" pitchFamily="34" charset="-122"/>
              </a:defRPr>
            </a:lvl2pPr>
            <a:lvl3pPr>
              <a:defRPr sz="1800" baseline="0">
                <a:latin typeface="Verdana" pitchFamily="34" charset="0"/>
                <a:ea typeface="微软雅黑" pitchFamily="34" charset="-122"/>
              </a:defRPr>
            </a:lvl3pPr>
            <a:lvl4pPr>
              <a:defRPr sz="1600" baseline="0">
                <a:latin typeface="Verdana" pitchFamily="34" charset="0"/>
                <a:ea typeface="微软雅黑" pitchFamily="34" charset="-122"/>
              </a:defRPr>
            </a:lvl4pPr>
            <a:lvl5pPr>
              <a:defRPr sz="1600" baseline="0">
                <a:latin typeface="Verdana" pitchFamily="34" charset="0"/>
                <a:ea typeface="微软雅黑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806273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34083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12474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1764506"/>
            <a:ext cx="5386917" cy="47608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12474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1764506"/>
            <a:ext cx="5389033" cy="47608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42133496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1218837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400200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1218837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848527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960263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960265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2122315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68331826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522575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037927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79249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65906024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52323345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53502" y="333376"/>
            <a:ext cx="2806700" cy="6119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27053" y="333376"/>
            <a:ext cx="8223249" cy="61198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6881350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381001" y="1143002"/>
            <a:ext cx="11525251" cy="25003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2"/>
          </p:nvPr>
        </p:nvSpPr>
        <p:spPr>
          <a:xfrm>
            <a:off x="381001" y="3857626"/>
            <a:ext cx="11525251" cy="25717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92461218"/>
      </p:ext>
    </p:extLst>
  </p:cSld>
  <p:clrMapOvr>
    <a:masterClrMapping/>
  </p:clrMapOvr>
  <p:transition spd="slow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27381" y="1341439"/>
            <a:ext cx="11233248" cy="1511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7052" y="3284539"/>
            <a:ext cx="11233149" cy="2881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7788959"/>
      </p:ext>
    </p:extLst>
  </p:cSld>
  <p:clrMapOvr>
    <a:masterClrMapping/>
  </p:clrMapOvr>
  <p:transition spd="slow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032439" y="6641976"/>
            <a:ext cx="1632181" cy="2160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8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11643715" y="6641979"/>
            <a:ext cx="527912" cy="216023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pPr>
              <a:defRPr/>
            </a:pPr>
            <a:fld id="{CFF10007-8FCC-43DC-B82D-4AE4189E914C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1" name="標題 1"/>
          <p:cNvSpPr>
            <a:spLocks noGrp="1"/>
          </p:cNvSpPr>
          <p:nvPr>
            <p:ph type="title" hasCustomPrompt="1"/>
          </p:nvPr>
        </p:nvSpPr>
        <p:spPr>
          <a:xfrm>
            <a:off x="527381" y="404664"/>
            <a:ext cx="8502187" cy="384499"/>
          </a:xfr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TW" altLang="en-US" dirty="0"/>
              <a:t>单击以编辑母片标题样式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095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Documents and Settings\DingQi\桌面\封面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183717" y="981077"/>
            <a:ext cx="5232400" cy="3603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1800">
              <a:solidFill>
                <a:prstClr val="black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2284" y="4437063"/>
            <a:ext cx="9886949" cy="792163"/>
          </a:xfrm>
        </p:spPr>
        <p:txBody>
          <a:bodyPr/>
          <a:lstStyle>
            <a:lvl1pPr algn="ctr">
              <a:defRPr sz="2400">
                <a:latin typeface="黑体" pitchFamily="2" charset="-122"/>
              </a:defRPr>
            </a:lvl1pPr>
          </a:lstStyle>
          <a:p>
            <a:r>
              <a:rPr lang="zh-CN" altLang="en-US"/>
              <a:t>海康威视</a:t>
            </a:r>
            <a:r>
              <a:rPr lang="en-US" altLang="zh-CN"/>
              <a:t>-</a:t>
            </a:r>
            <a:r>
              <a:rPr lang="zh-CN" altLang="en-US"/>
              <a:t>致力于人人轻松享有安全的品质生活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678519" y="5373689"/>
            <a:ext cx="8257116" cy="6477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500">
                <a:solidFill>
                  <a:srgbClr val="FF0000"/>
                </a:solidFill>
                <a:ea typeface="黑体" pitchFamily="2" charset="-122"/>
              </a:defRPr>
            </a:lvl1pPr>
          </a:lstStyle>
          <a:p>
            <a:r>
              <a:rPr lang="zh-CN" altLang="en-US"/>
              <a:t>提示：此为企业简介素材稿，实际使用时，务必根据受众进行修改！</a:t>
            </a:r>
          </a:p>
        </p:txBody>
      </p:sp>
    </p:spTree>
    <p:extLst>
      <p:ext uri="{BB962C8B-B14F-4D97-AF65-F5344CB8AC3E}">
        <p14:creationId xmlns:p14="http://schemas.microsoft.com/office/powerpoint/2010/main" val="169989410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7540" y="1125538"/>
            <a:ext cx="10745059" cy="503976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583CC-F08F-4650-83BD-0B144BA6F3F7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74755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379C4-215D-41A6-986A-2DF7D77C7B62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32161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5517" y="1125537"/>
            <a:ext cx="5509683" cy="53276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125537"/>
            <a:ext cx="5511800" cy="53276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25204-0424-41CA-8101-954D76C9E140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74959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34083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12474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1764506"/>
            <a:ext cx="5386917" cy="47608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12474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1764506"/>
            <a:ext cx="5389033" cy="47608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B02B9D-CB9D-41A8-A57D-5A4A8F3106E7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36665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9192B-C830-4071-8C11-A985470D9A03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72399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155236-8A8A-4C0A-885F-CE436FD7E267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47617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B5F45-3CAA-4013-AAB6-C2D61A642C69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06298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BCEB2F-4821-4F37-AA66-3E85E5CC4C4A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730504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2BA51-B37D-4C5C-8CE2-CD1B1AC0730A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2270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53502" y="333376"/>
            <a:ext cx="2806700" cy="6119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27053" y="333376"/>
            <a:ext cx="8223249" cy="61198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320A58-EF2B-4DA8-A045-258585B6DCF5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04347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27052" y="333376"/>
            <a:ext cx="11233149" cy="6119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7BBC0-2B71-4B2F-A8AF-C1E863BC9CDC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43122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333375"/>
            <a:ext cx="9120716" cy="50323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35517" y="1125537"/>
            <a:ext cx="11224683" cy="5327651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2180B9-174A-49A2-90F5-D1796E77D6EF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59133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1485"/>
            <a:ext cx="10363200" cy="1468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4AC5-522E-4C6E-9B07-38BF792465D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F66-7364-401C-A2CD-1F138EAF809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050" name="Picture 2" descr="C:\Users\fanliyuan\Desktop\PPT模板-24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19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4AC5-522E-4C6E-9B07-38BF792465D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F66-7364-401C-A2CD-1F138EAF8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1324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185"/>
            <a:ext cx="10363200" cy="150071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4AC5-522E-4C6E-9B07-38BF792465D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F66-7364-401C-A2CD-1F138EAF8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7001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4AC5-522E-4C6E-9B07-38BF792465D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F66-7364-401C-A2CD-1F138EAF8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9516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5934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4AC5-522E-4C6E-9B07-38BF792465D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F66-7364-401C-A2CD-1F138EAF8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0118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4AC5-522E-4C6E-9B07-38BF792465D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F66-7364-401C-A2CD-1F138EAF8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3395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4AC5-522E-4C6E-9B07-38BF792465D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F66-7364-401C-A2CD-1F138EAF8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0579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2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4AC5-522E-4C6E-9B07-38BF792465D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F66-7364-401C-A2CD-1F138EAF8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2992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867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4AC5-522E-4C6E-9B07-38BF792465D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F66-7364-401C-A2CD-1F138EAF8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0231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4AC5-522E-4C6E-9B07-38BF792465D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F66-7364-401C-A2CD-1F138EAF8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510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5167"/>
            <a:ext cx="2743200" cy="585046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5167"/>
            <a:ext cx="8026400" cy="585046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4AC5-522E-4C6E-9B07-38BF792465D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F66-7364-401C-A2CD-1F138EAF8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37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fanliyuan\Desktop\PPT模板-26.jp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989" y="16892"/>
            <a:ext cx="12205989" cy="686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419" y="548681"/>
            <a:ext cx="9120716" cy="503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5517" y="1125537"/>
            <a:ext cx="11224683" cy="532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1218837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131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 spd="slow">
    <p:pull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42891" indent="-342891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n"/>
        <a:defRPr sz="2400">
          <a:solidFill>
            <a:schemeClr val="tx1"/>
          </a:solidFill>
          <a:latin typeface="Verdana" pitchFamily="34" charset="0"/>
          <a:ea typeface="微软雅黑" pitchFamily="34" charset="-122"/>
          <a:cs typeface="+mn-cs"/>
        </a:defRPr>
      </a:lvl1pPr>
      <a:lvl2pPr marL="742932" indent="-285744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p"/>
        <a:defRPr sz="2000">
          <a:solidFill>
            <a:schemeClr val="tx1"/>
          </a:solidFill>
          <a:latin typeface="Verdana" pitchFamily="34" charset="0"/>
          <a:ea typeface="微软雅黑" pitchFamily="34" charset="-122"/>
        </a:defRPr>
      </a:lvl2pPr>
      <a:lvl3pPr marL="1142971" indent="-228594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Ø"/>
        <a:defRPr sz="2400">
          <a:solidFill>
            <a:schemeClr val="tx1"/>
          </a:solidFill>
          <a:latin typeface="Verdana" pitchFamily="34" charset="0"/>
          <a:ea typeface="微软雅黑" pitchFamily="34" charset="-122"/>
        </a:defRPr>
      </a:lvl3pPr>
      <a:lvl4pPr marL="1600160" indent="-228594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1600">
          <a:solidFill>
            <a:schemeClr val="tx1"/>
          </a:solidFill>
          <a:latin typeface="Verdana" pitchFamily="34" charset="0"/>
          <a:ea typeface="微软雅黑" pitchFamily="34" charset="-122"/>
        </a:defRPr>
      </a:lvl4pPr>
      <a:lvl5pPr marL="2057349" indent="-228594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Verdana" pitchFamily="34" charset="0"/>
          <a:ea typeface="微软雅黑" pitchFamily="34" charset="-122"/>
        </a:defRPr>
      </a:lvl5pPr>
      <a:lvl6pPr marL="2514537" indent="-22859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9" descr="内页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27051" y="333375"/>
            <a:ext cx="9120716" cy="503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5517" y="1125537"/>
            <a:ext cx="11224683" cy="532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08786" y="6570663"/>
            <a:ext cx="1068916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charset="0"/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C872023-A18E-43F0-BF25-0EE559958246}" type="slidenum">
              <a:rPr lang="en-US" altLang="zh-CN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37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5pPr>
      <a:lvl6pPr marL="457189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6pPr>
      <a:lvl7pPr marL="914377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7pPr>
      <a:lvl8pPr marL="1371566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8pPr>
      <a:lvl9pPr marL="1828754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42891" indent="-342891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p"/>
        <a:defRPr sz="22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5pPr>
      <a:lvl6pPr marL="2514537" indent="-228594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726" indent="-228594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8914" indent="-228594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103" indent="-228594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54AC5-522E-4C6E-9B07-38BF792465D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7FF66-7364-401C-A2CD-1F138EAF8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18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个人陈述时间为</a:t>
            </a:r>
            <a:r>
              <a:rPr lang="en-US" altLang="zh-CN" b="1" dirty="0">
                <a:solidFill>
                  <a:srgbClr val="FF0000"/>
                </a:solidFill>
              </a:rPr>
              <a:t>10min-15min</a:t>
            </a:r>
            <a:r>
              <a:rPr lang="zh-CN" altLang="en-US" dirty="0"/>
              <a:t>，超出时间不予展示，请注意时间的把控；</a:t>
            </a:r>
            <a:endParaRPr lang="en-US" altLang="zh-CN" dirty="0"/>
          </a:p>
          <a:p>
            <a:r>
              <a:rPr lang="zh-CN" altLang="en-US" dirty="0"/>
              <a:t>阐述重心请放在对</a:t>
            </a:r>
            <a:r>
              <a:rPr lang="zh-CN" altLang="en-US" b="1" dirty="0">
                <a:solidFill>
                  <a:srgbClr val="FF0000"/>
                </a:solidFill>
              </a:rPr>
              <a:t>重点工作结果、个人思考总结</a:t>
            </a:r>
            <a:r>
              <a:rPr lang="zh-CN" altLang="en-US" dirty="0"/>
              <a:t>的阐述，以及今后如何改善上面；</a:t>
            </a:r>
            <a:endParaRPr lang="en-US" altLang="zh-CN" dirty="0"/>
          </a:p>
          <a:p>
            <a:r>
              <a:rPr lang="zh-CN" altLang="en-US" dirty="0"/>
              <a:t>模板中提供的分析工具仅供参考，具体的汇报内容视每个人情况而定，可作调整、删减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备注（此页不展示）</a:t>
            </a:r>
          </a:p>
        </p:txBody>
      </p:sp>
    </p:spTree>
    <p:extLst>
      <p:ext uri="{BB962C8B-B14F-4D97-AF65-F5344CB8AC3E}">
        <p14:creationId xmlns:p14="http://schemas.microsoft.com/office/powerpoint/2010/main" val="2783311439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79376" y="1828317"/>
            <a:ext cx="7704856" cy="142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pPr defTabSz="1219170"/>
            <a:r>
              <a:rPr lang="zh-CN" altLang="en-US" sz="3733" kern="0" dirty="0">
                <a:solidFill>
                  <a:srgbClr val="000000"/>
                </a:solidFill>
                <a:latin typeface="Arial"/>
                <a:ea typeface="微软雅黑"/>
              </a:rPr>
              <a:t>司博  工作汇报</a:t>
            </a: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1991544" y="4437112"/>
            <a:ext cx="77724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377">
              <a:lnSpc>
                <a:spcPct val="150000"/>
              </a:lnSpc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/>
              </a:rPr>
              <a:t>汇报人：司博</a:t>
            </a:r>
            <a:endParaRPr lang="en-US" altLang="zh-CN" sz="1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/>
            </a:endParaRPr>
          </a:p>
          <a:p>
            <a:pPr algn="l" defTabSz="914377">
              <a:lnSpc>
                <a:spcPct val="150000"/>
              </a:lnSpc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/>
              </a:rPr>
              <a:t>汇报时间：</a:t>
            </a:r>
            <a:r>
              <a:rPr lang="en-US" altLang="zh-CN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/>
              </a:rPr>
              <a:t>9</a:t>
            </a: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/>
              </a:rPr>
              <a:t>月</a:t>
            </a:r>
            <a:r>
              <a:rPr lang="en-US" altLang="zh-CN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/>
              </a:rPr>
              <a:t>22</a:t>
            </a: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/>
              </a:rPr>
              <a:t>日</a:t>
            </a:r>
            <a:endParaRPr lang="en-US" altLang="zh-CN" sz="1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2647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目录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063553" y="1700808"/>
            <a:ext cx="6407511" cy="3283872"/>
            <a:chOff x="1638575" y="1635646"/>
            <a:chExt cx="3198984" cy="1639491"/>
          </a:xfrm>
        </p:grpSpPr>
        <p:sp>
          <p:nvSpPr>
            <p:cNvPr id="39" name="MH_Number_1">
              <a:hlinkClick r:id="rId8" action="ppaction://hlinksldjump"/>
            </p:cNvPr>
            <p:cNvSpPr/>
            <p:nvPr>
              <p:custDataLst>
                <p:tags r:id="rId1"/>
              </p:custDataLst>
            </p:nvPr>
          </p:nvSpPr>
          <p:spPr>
            <a:xfrm>
              <a:off x="1638575" y="1713037"/>
              <a:ext cx="329803" cy="285750"/>
            </a:xfrm>
            <a:custGeom>
              <a:avLst/>
              <a:gdLst>
                <a:gd name="connsiteX0" fmla="*/ 93305 w 373220"/>
                <a:gd name="connsiteY0" fmla="*/ 0 h 323217"/>
                <a:gd name="connsiteX1" fmla="*/ 279915 w 373220"/>
                <a:gd name="connsiteY1" fmla="*/ 0 h 323217"/>
                <a:gd name="connsiteX2" fmla="*/ 373220 w 373220"/>
                <a:gd name="connsiteY2" fmla="*/ 161609 h 323217"/>
                <a:gd name="connsiteX3" fmla="*/ 279915 w 373220"/>
                <a:gd name="connsiteY3" fmla="*/ 323217 h 323217"/>
                <a:gd name="connsiteX4" fmla="*/ 93306 w 373220"/>
                <a:gd name="connsiteY4" fmla="*/ 323216 h 323217"/>
                <a:gd name="connsiteX5" fmla="*/ 0 w 373220"/>
                <a:gd name="connsiteY5" fmla="*/ 161608 h 323217"/>
                <a:gd name="connsiteX6" fmla="*/ 93305 w 373220"/>
                <a:gd name="connsiteY6" fmla="*/ 0 h 32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3220" h="323217">
                  <a:moveTo>
                    <a:pt x="93305" y="0"/>
                  </a:moveTo>
                  <a:lnTo>
                    <a:pt x="279915" y="0"/>
                  </a:lnTo>
                  <a:lnTo>
                    <a:pt x="373220" y="161609"/>
                  </a:lnTo>
                  <a:lnTo>
                    <a:pt x="279915" y="323217"/>
                  </a:lnTo>
                  <a:lnTo>
                    <a:pt x="93306" y="323216"/>
                  </a:lnTo>
                  <a:lnTo>
                    <a:pt x="0" y="161608"/>
                  </a:lnTo>
                  <a:lnTo>
                    <a:pt x="93305" y="0"/>
                  </a:lnTo>
                  <a:close/>
                </a:path>
              </a:pathLst>
            </a:custGeom>
            <a:solidFill>
              <a:srgbClr val="002060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3200" dirty="0">
                  <a:solidFill>
                    <a:srgbClr val="FFFFFF"/>
                  </a:solidFill>
                  <a:latin typeface="Arial"/>
                  <a:ea typeface="Alt Matey" pitchFamily="2" charset="0"/>
                  <a:cs typeface="Arial" panose="020B0604020202020204" pitchFamily="34" charset="0"/>
                </a:rPr>
                <a:t>1</a:t>
              </a:r>
              <a:endParaRPr lang="zh-CN" altLang="en-US" sz="3200" dirty="0">
                <a:solidFill>
                  <a:srgbClr val="FFFFFF"/>
                </a:solidFill>
                <a:latin typeface="Arial"/>
                <a:ea typeface="Alt Matey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40" name="MH_Number_2">
              <a:hlinkClick r:id="rId8" action="ppaction://hlinksldjump"/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38575" y="2351212"/>
              <a:ext cx="329803" cy="285750"/>
            </a:xfrm>
            <a:custGeom>
              <a:avLst/>
              <a:gdLst>
                <a:gd name="connsiteX0" fmla="*/ 93305 w 373220"/>
                <a:gd name="connsiteY0" fmla="*/ 0 h 323217"/>
                <a:gd name="connsiteX1" fmla="*/ 279915 w 373220"/>
                <a:gd name="connsiteY1" fmla="*/ 0 h 323217"/>
                <a:gd name="connsiteX2" fmla="*/ 373220 w 373220"/>
                <a:gd name="connsiteY2" fmla="*/ 161609 h 323217"/>
                <a:gd name="connsiteX3" fmla="*/ 279915 w 373220"/>
                <a:gd name="connsiteY3" fmla="*/ 323217 h 323217"/>
                <a:gd name="connsiteX4" fmla="*/ 93306 w 373220"/>
                <a:gd name="connsiteY4" fmla="*/ 323216 h 323217"/>
                <a:gd name="connsiteX5" fmla="*/ 0 w 373220"/>
                <a:gd name="connsiteY5" fmla="*/ 161608 h 323217"/>
                <a:gd name="connsiteX6" fmla="*/ 93305 w 373220"/>
                <a:gd name="connsiteY6" fmla="*/ 0 h 32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3220" h="323217">
                  <a:moveTo>
                    <a:pt x="93305" y="0"/>
                  </a:moveTo>
                  <a:lnTo>
                    <a:pt x="279915" y="0"/>
                  </a:lnTo>
                  <a:lnTo>
                    <a:pt x="373220" y="161609"/>
                  </a:lnTo>
                  <a:lnTo>
                    <a:pt x="279915" y="323217"/>
                  </a:lnTo>
                  <a:lnTo>
                    <a:pt x="93306" y="323216"/>
                  </a:lnTo>
                  <a:lnTo>
                    <a:pt x="0" y="161608"/>
                  </a:lnTo>
                  <a:lnTo>
                    <a:pt x="93305" y="0"/>
                  </a:lnTo>
                  <a:close/>
                </a:path>
              </a:pathLst>
            </a:custGeom>
            <a:solidFill>
              <a:srgbClr val="002060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3200" dirty="0">
                  <a:solidFill>
                    <a:srgbClr val="FFFFFF"/>
                  </a:solidFill>
                  <a:latin typeface="Arial"/>
                  <a:ea typeface="Alt Matey" pitchFamily="2" charset="0"/>
                  <a:cs typeface="Arial" panose="020B0604020202020204" pitchFamily="34" charset="0"/>
                </a:rPr>
                <a:t>2</a:t>
              </a:r>
              <a:endParaRPr lang="zh-CN" altLang="en-US" sz="3200" dirty="0">
                <a:solidFill>
                  <a:srgbClr val="FFFFFF"/>
                </a:solidFill>
                <a:latin typeface="Arial"/>
                <a:ea typeface="Alt Matey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41" name="MH_Number_3">
              <a:hlinkClick r:id="rId8" action="ppaction://hlinksldjump"/>
            </p:cNvPr>
            <p:cNvSpPr/>
            <p:nvPr>
              <p:custDataLst>
                <p:tags r:id="rId3"/>
              </p:custDataLst>
            </p:nvPr>
          </p:nvSpPr>
          <p:spPr>
            <a:xfrm>
              <a:off x="1638575" y="2989387"/>
              <a:ext cx="329803" cy="285750"/>
            </a:xfrm>
            <a:custGeom>
              <a:avLst/>
              <a:gdLst>
                <a:gd name="connsiteX0" fmla="*/ 93305 w 373220"/>
                <a:gd name="connsiteY0" fmla="*/ 0 h 323217"/>
                <a:gd name="connsiteX1" fmla="*/ 279915 w 373220"/>
                <a:gd name="connsiteY1" fmla="*/ 0 h 323217"/>
                <a:gd name="connsiteX2" fmla="*/ 373220 w 373220"/>
                <a:gd name="connsiteY2" fmla="*/ 161609 h 323217"/>
                <a:gd name="connsiteX3" fmla="*/ 279915 w 373220"/>
                <a:gd name="connsiteY3" fmla="*/ 323217 h 323217"/>
                <a:gd name="connsiteX4" fmla="*/ 93306 w 373220"/>
                <a:gd name="connsiteY4" fmla="*/ 323216 h 323217"/>
                <a:gd name="connsiteX5" fmla="*/ 0 w 373220"/>
                <a:gd name="connsiteY5" fmla="*/ 161608 h 323217"/>
                <a:gd name="connsiteX6" fmla="*/ 93305 w 373220"/>
                <a:gd name="connsiteY6" fmla="*/ 0 h 32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3220" h="323217">
                  <a:moveTo>
                    <a:pt x="93305" y="0"/>
                  </a:moveTo>
                  <a:lnTo>
                    <a:pt x="279915" y="0"/>
                  </a:lnTo>
                  <a:lnTo>
                    <a:pt x="373220" y="161609"/>
                  </a:lnTo>
                  <a:lnTo>
                    <a:pt x="279915" y="323217"/>
                  </a:lnTo>
                  <a:lnTo>
                    <a:pt x="93306" y="323216"/>
                  </a:lnTo>
                  <a:lnTo>
                    <a:pt x="0" y="161608"/>
                  </a:lnTo>
                  <a:lnTo>
                    <a:pt x="93305" y="0"/>
                  </a:lnTo>
                  <a:close/>
                </a:path>
              </a:pathLst>
            </a:custGeom>
            <a:solidFill>
              <a:srgbClr val="002060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3200" dirty="0">
                  <a:solidFill>
                    <a:srgbClr val="FFFFFF"/>
                  </a:solidFill>
                  <a:latin typeface="Arial"/>
                  <a:ea typeface="Alt Matey" pitchFamily="2" charset="0"/>
                  <a:cs typeface="Arial" panose="020B0604020202020204" pitchFamily="34" charset="0"/>
                </a:rPr>
                <a:t>3</a:t>
              </a:r>
              <a:endParaRPr lang="zh-CN" altLang="en-US" sz="3200" dirty="0">
                <a:solidFill>
                  <a:srgbClr val="FFFFFF"/>
                </a:solidFill>
                <a:latin typeface="Arial"/>
                <a:ea typeface="Alt Matey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42" name="MH_Entry_2">
              <a:hlinkClick r:id="rId8" action="ppaction://hlinksldjump"/>
            </p:cNvPr>
            <p:cNvSpPr/>
            <p:nvPr>
              <p:custDataLst>
                <p:tags r:id="rId4"/>
              </p:custDataLst>
            </p:nvPr>
          </p:nvSpPr>
          <p:spPr>
            <a:xfrm>
              <a:off x="2051720" y="2261916"/>
              <a:ext cx="2785839" cy="36076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0 w 2520280"/>
                <a:gd name="connsiteY7" fmla="*/ 0 h 1872208"/>
                <a:gd name="connsiteX0" fmla="*/ 0 w 2520280"/>
                <a:gd name="connsiteY0" fmla="*/ 1872208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0 h 1872208"/>
                <a:gd name="connsiteX5" fmla="*/ 2520280 w 2520280"/>
                <a:gd name="connsiteY5" fmla="*/ 0 h 1872208"/>
                <a:gd name="connsiteX6" fmla="*/ 0 w 2520280"/>
                <a:gd name="connsiteY6" fmla="*/ 0 h 1872208"/>
                <a:gd name="connsiteX0" fmla="*/ 0 w 2520280"/>
                <a:gd name="connsiteY0" fmla="*/ 1872208 h 1872208"/>
                <a:gd name="connsiteX1" fmla="*/ 2520280 w 2520280"/>
                <a:gd name="connsiteY1" fmla="*/ 1872208 h 1872208"/>
                <a:gd name="connsiteX2" fmla="*/ 0 w 2520280"/>
                <a:gd name="connsiteY2" fmla="*/ 1872208 h 1872208"/>
                <a:gd name="connsiteX3" fmla="*/ 0 w 2520280"/>
                <a:gd name="connsiteY3" fmla="*/ 0 h 1872208"/>
                <a:gd name="connsiteX4" fmla="*/ 2520280 w 2520280"/>
                <a:gd name="connsiteY4" fmla="*/ 0 h 1872208"/>
                <a:gd name="connsiteX5" fmla="*/ 0 w 2520280"/>
                <a:gd name="connsiteY5" fmla="*/ 0 h 1872208"/>
                <a:gd name="connsiteX0" fmla="*/ 0 w 2520280"/>
                <a:gd name="connsiteY0" fmla="*/ 1872208 h 1872208"/>
                <a:gd name="connsiteX1" fmla="*/ 2520280 w 2520280"/>
                <a:gd name="connsiteY1" fmla="*/ 1872208 h 1872208"/>
                <a:gd name="connsiteX2" fmla="*/ 0 w 2520280"/>
                <a:gd name="connsiteY2" fmla="*/ 1872208 h 1872208"/>
                <a:gd name="connsiteX3" fmla="*/ 0 w 2520280"/>
                <a:gd name="connsiteY3" fmla="*/ 0 h 1872208"/>
                <a:gd name="connsiteX4" fmla="*/ 34255 w 2520280"/>
                <a:gd name="connsiteY4" fmla="*/ 0 h 1872208"/>
                <a:gd name="connsiteX5" fmla="*/ 0 w 2520280"/>
                <a:gd name="connsiteY5" fmla="*/ 0 h 1872208"/>
                <a:gd name="connsiteX0" fmla="*/ 0 w 2520280"/>
                <a:gd name="connsiteY0" fmla="*/ 1872208 h 1872208"/>
                <a:gd name="connsiteX1" fmla="*/ 2520280 w 2520280"/>
                <a:gd name="connsiteY1" fmla="*/ 1872208 h 1872208"/>
                <a:gd name="connsiteX2" fmla="*/ 0 w 2520280"/>
                <a:gd name="connsiteY2" fmla="*/ 1872208 h 1872208"/>
                <a:gd name="connsiteX3" fmla="*/ 0 w 2520280"/>
                <a:gd name="connsiteY3" fmla="*/ 0 h 1872208"/>
                <a:gd name="connsiteX4" fmla="*/ 917 w 2520280"/>
                <a:gd name="connsiteY4" fmla="*/ 6036 h 1872208"/>
                <a:gd name="connsiteX5" fmla="*/ 0 w 2520280"/>
                <a:gd name="connsiteY5" fmla="*/ 0 h 1872208"/>
                <a:gd name="connsiteX0" fmla="*/ 0 w 2520280"/>
                <a:gd name="connsiteY0" fmla="*/ 1890314 h 1890314"/>
                <a:gd name="connsiteX1" fmla="*/ 2520280 w 2520280"/>
                <a:gd name="connsiteY1" fmla="*/ 1890314 h 1890314"/>
                <a:gd name="connsiteX2" fmla="*/ 0 w 2520280"/>
                <a:gd name="connsiteY2" fmla="*/ 1890314 h 1890314"/>
                <a:gd name="connsiteX3" fmla="*/ 0 w 2520280"/>
                <a:gd name="connsiteY3" fmla="*/ 18106 h 1890314"/>
                <a:gd name="connsiteX4" fmla="*/ 53304 w 2520280"/>
                <a:gd name="connsiteY4" fmla="*/ 0 h 1890314"/>
                <a:gd name="connsiteX5" fmla="*/ 0 w 2520280"/>
                <a:gd name="connsiteY5" fmla="*/ 18106 h 1890314"/>
                <a:gd name="connsiteX0" fmla="*/ 0 w 2520280"/>
                <a:gd name="connsiteY0" fmla="*/ 1872208 h 1872208"/>
                <a:gd name="connsiteX1" fmla="*/ 2520280 w 2520280"/>
                <a:gd name="connsiteY1" fmla="*/ 1872208 h 1872208"/>
                <a:gd name="connsiteX2" fmla="*/ 0 w 2520280"/>
                <a:gd name="connsiteY2" fmla="*/ 1872208 h 1872208"/>
                <a:gd name="connsiteX3" fmla="*/ 0 w 2520280"/>
                <a:gd name="connsiteY3" fmla="*/ 0 h 1872208"/>
                <a:gd name="connsiteX4" fmla="*/ 916 w 2520280"/>
                <a:gd name="connsiteY4" fmla="*/ 0 h 1872208"/>
                <a:gd name="connsiteX5" fmla="*/ 0 w 2520280"/>
                <a:gd name="connsiteY5" fmla="*/ 0 h 1872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sq">
              <a:solidFill>
                <a:srgbClr val="B2B2B2"/>
              </a:solidFill>
              <a:prstDash val="dash"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0" rIns="0" bIns="72000" anchor="ctr"/>
            <a:lstStyle/>
            <a:p>
              <a:pPr defTabSz="914377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2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宋体"/>
                  <a:ea typeface="微软雅黑"/>
                </a:rPr>
                <a:t>阶段性工作总结</a:t>
              </a:r>
            </a:p>
          </p:txBody>
        </p:sp>
        <p:sp>
          <p:nvSpPr>
            <p:cNvPr id="43" name="MH_Entry_3">
              <a:hlinkClick r:id="rId8" action="ppaction://hlinksldjump"/>
            </p:cNvPr>
            <p:cNvSpPr/>
            <p:nvPr>
              <p:custDataLst>
                <p:tags r:id="rId5"/>
              </p:custDataLst>
            </p:nvPr>
          </p:nvSpPr>
          <p:spPr>
            <a:xfrm>
              <a:off x="2051720" y="2900090"/>
              <a:ext cx="2514600" cy="36195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0 w 2520280"/>
                <a:gd name="connsiteY7" fmla="*/ 0 h 1872208"/>
                <a:gd name="connsiteX0" fmla="*/ 0 w 2520280"/>
                <a:gd name="connsiteY0" fmla="*/ 1872208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0 h 1872208"/>
                <a:gd name="connsiteX5" fmla="*/ 2520280 w 2520280"/>
                <a:gd name="connsiteY5" fmla="*/ 0 h 1872208"/>
                <a:gd name="connsiteX6" fmla="*/ 0 w 2520280"/>
                <a:gd name="connsiteY6" fmla="*/ 0 h 1872208"/>
                <a:gd name="connsiteX0" fmla="*/ 0 w 2520280"/>
                <a:gd name="connsiteY0" fmla="*/ 1872208 h 1872208"/>
                <a:gd name="connsiteX1" fmla="*/ 2520280 w 2520280"/>
                <a:gd name="connsiteY1" fmla="*/ 1872208 h 1872208"/>
                <a:gd name="connsiteX2" fmla="*/ 0 w 2520280"/>
                <a:gd name="connsiteY2" fmla="*/ 1872208 h 1872208"/>
                <a:gd name="connsiteX3" fmla="*/ 0 w 2520280"/>
                <a:gd name="connsiteY3" fmla="*/ 0 h 1872208"/>
                <a:gd name="connsiteX4" fmla="*/ 2520280 w 2520280"/>
                <a:gd name="connsiteY4" fmla="*/ 0 h 1872208"/>
                <a:gd name="connsiteX5" fmla="*/ 0 w 2520280"/>
                <a:gd name="connsiteY5" fmla="*/ 0 h 1872208"/>
                <a:gd name="connsiteX0" fmla="*/ 0 w 2520280"/>
                <a:gd name="connsiteY0" fmla="*/ 1872208 h 1872208"/>
                <a:gd name="connsiteX1" fmla="*/ 2520280 w 2520280"/>
                <a:gd name="connsiteY1" fmla="*/ 1872208 h 1872208"/>
                <a:gd name="connsiteX2" fmla="*/ 0 w 2520280"/>
                <a:gd name="connsiteY2" fmla="*/ 1872208 h 1872208"/>
                <a:gd name="connsiteX3" fmla="*/ 0 w 2520280"/>
                <a:gd name="connsiteY3" fmla="*/ 0 h 1872208"/>
                <a:gd name="connsiteX4" fmla="*/ 34255 w 2520280"/>
                <a:gd name="connsiteY4" fmla="*/ 0 h 1872208"/>
                <a:gd name="connsiteX5" fmla="*/ 0 w 2520280"/>
                <a:gd name="connsiteY5" fmla="*/ 0 h 1872208"/>
                <a:gd name="connsiteX0" fmla="*/ 0 w 2520280"/>
                <a:gd name="connsiteY0" fmla="*/ 1872208 h 1872208"/>
                <a:gd name="connsiteX1" fmla="*/ 2520280 w 2520280"/>
                <a:gd name="connsiteY1" fmla="*/ 1872208 h 1872208"/>
                <a:gd name="connsiteX2" fmla="*/ 0 w 2520280"/>
                <a:gd name="connsiteY2" fmla="*/ 1872208 h 1872208"/>
                <a:gd name="connsiteX3" fmla="*/ 0 w 2520280"/>
                <a:gd name="connsiteY3" fmla="*/ 0 h 1872208"/>
                <a:gd name="connsiteX4" fmla="*/ 917 w 2520280"/>
                <a:gd name="connsiteY4" fmla="*/ 6036 h 1872208"/>
                <a:gd name="connsiteX5" fmla="*/ 0 w 2520280"/>
                <a:gd name="connsiteY5" fmla="*/ 0 h 1872208"/>
                <a:gd name="connsiteX0" fmla="*/ 0 w 2520280"/>
                <a:gd name="connsiteY0" fmla="*/ 1890314 h 1890314"/>
                <a:gd name="connsiteX1" fmla="*/ 2520280 w 2520280"/>
                <a:gd name="connsiteY1" fmla="*/ 1890314 h 1890314"/>
                <a:gd name="connsiteX2" fmla="*/ 0 w 2520280"/>
                <a:gd name="connsiteY2" fmla="*/ 1890314 h 1890314"/>
                <a:gd name="connsiteX3" fmla="*/ 0 w 2520280"/>
                <a:gd name="connsiteY3" fmla="*/ 18106 h 1890314"/>
                <a:gd name="connsiteX4" fmla="*/ 53304 w 2520280"/>
                <a:gd name="connsiteY4" fmla="*/ 0 h 1890314"/>
                <a:gd name="connsiteX5" fmla="*/ 0 w 2520280"/>
                <a:gd name="connsiteY5" fmla="*/ 18106 h 1890314"/>
                <a:gd name="connsiteX0" fmla="*/ 0 w 2520280"/>
                <a:gd name="connsiteY0" fmla="*/ 1872208 h 1872208"/>
                <a:gd name="connsiteX1" fmla="*/ 2520280 w 2520280"/>
                <a:gd name="connsiteY1" fmla="*/ 1872208 h 1872208"/>
                <a:gd name="connsiteX2" fmla="*/ 0 w 2520280"/>
                <a:gd name="connsiteY2" fmla="*/ 1872208 h 1872208"/>
                <a:gd name="connsiteX3" fmla="*/ 0 w 2520280"/>
                <a:gd name="connsiteY3" fmla="*/ 0 h 1872208"/>
                <a:gd name="connsiteX4" fmla="*/ 916 w 2520280"/>
                <a:gd name="connsiteY4" fmla="*/ 0 h 1872208"/>
                <a:gd name="connsiteX5" fmla="*/ 0 w 2520280"/>
                <a:gd name="connsiteY5" fmla="*/ 0 h 1872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sq">
              <a:solidFill>
                <a:srgbClr val="B2B2B2"/>
              </a:solidFill>
              <a:prstDash val="dash"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0" rIns="0" bIns="72000" anchor="ctr"/>
            <a:lstStyle/>
            <a:p>
              <a:pPr defTabSz="914377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2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宋体"/>
                  <a:ea typeface="微软雅黑"/>
                </a:rPr>
                <a:t>自我评价及未来规划</a:t>
              </a:r>
            </a:p>
          </p:txBody>
        </p:sp>
        <p:sp>
          <p:nvSpPr>
            <p:cNvPr id="44" name="MH_Entry_1">
              <a:hlinkClick r:id="rId8" action="ppaction://hlinksldjump"/>
            </p:cNvPr>
            <p:cNvSpPr/>
            <p:nvPr>
              <p:custDataLst>
                <p:tags r:id="rId6"/>
              </p:custDataLst>
            </p:nvPr>
          </p:nvSpPr>
          <p:spPr>
            <a:xfrm>
              <a:off x="2051720" y="1635646"/>
              <a:ext cx="2785839" cy="363141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0 w 2520280"/>
                <a:gd name="connsiteY7" fmla="*/ 0 h 1872208"/>
                <a:gd name="connsiteX0" fmla="*/ 0 w 2520280"/>
                <a:gd name="connsiteY0" fmla="*/ 1872208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0 h 1872208"/>
                <a:gd name="connsiteX5" fmla="*/ 2520280 w 2520280"/>
                <a:gd name="connsiteY5" fmla="*/ 0 h 1872208"/>
                <a:gd name="connsiteX6" fmla="*/ 0 w 2520280"/>
                <a:gd name="connsiteY6" fmla="*/ 0 h 1872208"/>
                <a:gd name="connsiteX0" fmla="*/ 0 w 2520280"/>
                <a:gd name="connsiteY0" fmla="*/ 1872208 h 1872208"/>
                <a:gd name="connsiteX1" fmla="*/ 2520280 w 2520280"/>
                <a:gd name="connsiteY1" fmla="*/ 1872208 h 1872208"/>
                <a:gd name="connsiteX2" fmla="*/ 0 w 2520280"/>
                <a:gd name="connsiteY2" fmla="*/ 1872208 h 1872208"/>
                <a:gd name="connsiteX3" fmla="*/ 0 w 2520280"/>
                <a:gd name="connsiteY3" fmla="*/ 0 h 1872208"/>
                <a:gd name="connsiteX4" fmla="*/ 2520280 w 2520280"/>
                <a:gd name="connsiteY4" fmla="*/ 0 h 1872208"/>
                <a:gd name="connsiteX5" fmla="*/ 0 w 2520280"/>
                <a:gd name="connsiteY5" fmla="*/ 0 h 1872208"/>
                <a:gd name="connsiteX0" fmla="*/ 0 w 2520280"/>
                <a:gd name="connsiteY0" fmla="*/ 1872208 h 1872208"/>
                <a:gd name="connsiteX1" fmla="*/ 2520280 w 2520280"/>
                <a:gd name="connsiteY1" fmla="*/ 1872208 h 1872208"/>
                <a:gd name="connsiteX2" fmla="*/ 0 w 2520280"/>
                <a:gd name="connsiteY2" fmla="*/ 1872208 h 1872208"/>
                <a:gd name="connsiteX3" fmla="*/ 0 w 2520280"/>
                <a:gd name="connsiteY3" fmla="*/ 0 h 1872208"/>
                <a:gd name="connsiteX4" fmla="*/ 34255 w 2520280"/>
                <a:gd name="connsiteY4" fmla="*/ 0 h 1872208"/>
                <a:gd name="connsiteX5" fmla="*/ 0 w 2520280"/>
                <a:gd name="connsiteY5" fmla="*/ 0 h 1872208"/>
                <a:gd name="connsiteX0" fmla="*/ 0 w 2520280"/>
                <a:gd name="connsiteY0" fmla="*/ 1872208 h 1872208"/>
                <a:gd name="connsiteX1" fmla="*/ 2520280 w 2520280"/>
                <a:gd name="connsiteY1" fmla="*/ 1872208 h 1872208"/>
                <a:gd name="connsiteX2" fmla="*/ 0 w 2520280"/>
                <a:gd name="connsiteY2" fmla="*/ 1872208 h 1872208"/>
                <a:gd name="connsiteX3" fmla="*/ 0 w 2520280"/>
                <a:gd name="connsiteY3" fmla="*/ 0 h 1872208"/>
                <a:gd name="connsiteX4" fmla="*/ 917 w 2520280"/>
                <a:gd name="connsiteY4" fmla="*/ 6036 h 1872208"/>
                <a:gd name="connsiteX5" fmla="*/ 0 w 2520280"/>
                <a:gd name="connsiteY5" fmla="*/ 0 h 1872208"/>
                <a:gd name="connsiteX0" fmla="*/ 0 w 2520280"/>
                <a:gd name="connsiteY0" fmla="*/ 1890314 h 1890314"/>
                <a:gd name="connsiteX1" fmla="*/ 2520280 w 2520280"/>
                <a:gd name="connsiteY1" fmla="*/ 1890314 h 1890314"/>
                <a:gd name="connsiteX2" fmla="*/ 0 w 2520280"/>
                <a:gd name="connsiteY2" fmla="*/ 1890314 h 1890314"/>
                <a:gd name="connsiteX3" fmla="*/ 0 w 2520280"/>
                <a:gd name="connsiteY3" fmla="*/ 18106 h 1890314"/>
                <a:gd name="connsiteX4" fmla="*/ 53304 w 2520280"/>
                <a:gd name="connsiteY4" fmla="*/ 0 h 1890314"/>
                <a:gd name="connsiteX5" fmla="*/ 0 w 2520280"/>
                <a:gd name="connsiteY5" fmla="*/ 18106 h 1890314"/>
                <a:gd name="connsiteX0" fmla="*/ 0 w 2520280"/>
                <a:gd name="connsiteY0" fmla="*/ 1872208 h 1872208"/>
                <a:gd name="connsiteX1" fmla="*/ 2520280 w 2520280"/>
                <a:gd name="connsiteY1" fmla="*/ 1872208 h 1872208"/>
                <a:gd name="connsiteX2" fmla="*/ 0 w 2520280"/>
                <a:gd name="connsiteY2" fmla="*/ 1872208 h 1872208"/>
                <a:gd name="connsiteX3" fmla="*/ 0 w 2520280"/>
                <a:gd name="connsiteY3" fmla="*/ 0 h 1872208"/>
                <a:gd name="connsiteX4" fmla="*/ 916 w 2520280"/>
                <a:gd name="connsiteY4" fmla="*/ 0 h 1872208"/>
                <a:gd name="connsiteX5" fmla="*/ 0 w 2520280"/>
                <a:gd name="connsiteY5" fmla="*/ 0 h 1872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sq">
              <a:solidFill>
                <a:srgbClr val="B2B2B2"/>
              </a:solidFill>
              <a:prstDash val="dash"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0" rIns="0" bIns="72000" anchor="ctr"/>
            <a:lstStyle/>
            <a:p>
              <a:pPr defTabSz="1219170">
                <a:lnSpc>
                  <a:spcPct val="200000"/>
                </a:lnSpc>
              </a:pPr>
              <a:r>
                <a:rPr lang="zh-CN" altLang="en-US" sz="32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宋体"/>
                  <a:ea typeface="微软雅黑"/>
                </a:rPr>
                <a:t>个人基本情况</a:t>
              </a:r>
              <a:endPara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宋体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214482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09806" y="298401"/>
            <a:ext cx="7016751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defTabSz="914377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2400" b="1" dirty="0">
                <a:solidFill>
                  <a:prstClr val="black"/>
                </a:solidFill>
              </a:rPr>
              <a:t>个人名片</a:t>
            </a:r>
            <a:endParaRPr lang="en-US" altLang="zh-CN" sz="2400" b="1" dirty="0">
              <a:solidFill>
                <a:srgbClr val="000000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3392" y="1316766"/>
          <a:ext cx="10945217" cy="249627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14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9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7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56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67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+mn-ea"/>
                          <a:ea typeface="+mn-ea"/>
                        </a:rPr>
                        <a:t>姓名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司博</a:t>
                      </a:r>
                      <a:endParaRPr lang="zh-CN" alt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 dirty="0">
                          <a:effectLst/>
                          <a:latin typeface="+mn-ea"/>
                          <a:ea typeface="+mn-ea"/>
                        </a:rPr>
                        <a:t>部门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智慧存储业务中心</a:t>
                      </a:r>
                      <a:r>
                        <a:rPr lang="en-US" altLang="zh-CN" sz="1600" b="0" i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b="0" i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基线测试组</a:t>
                      </a:r>
                      <a:endParaRPr lang="zh-CN" alt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 dirty="0">
                          <a:effectLst/>
                          <a:latin typeface="+mn-ea"/>
                          <a:ea typeface="+mn-ea"/>
                        </a:rPr>
                        <a:t>岗位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测试工程师</a:t>
                      </a:r>
                    </a:p>
                  </a:txBody>
                  <a:tcPr marL="12287" marR="12287" marT="12287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12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+mn-ea"/>
                          <a:ea typeface="+mn-ea"/>
                        </a:rPr>
                        <a:t>学校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长江大学</a:t>
                      </a:r>
                      <a:endParaRPr lang="zh-CN" alt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 dirty="0">
                          <a:effectLst/>
                          <a:latin typeface="+mn-ea"/>
                          <a:ea typeface="+mn-ea"/>
                        </a:rPr>
                        <a:t>专业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软件工程</a:t>
                      </a:r>
                      <a:endParaRPr lang="zh-CN" alt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 dirty="0">
                          <a:effectLst/>
                          <a:latin typeface="+mn-ea"/>
                          <a:ea typeface="+mn-ea"/>
                        </a:rPr>
                        <a:t>毕业时间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2026-06-30</a:t>
                      </a:r>
                      <a:endParaRPr lang="zh-CN" alt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12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+mn-ea"/>
                          <a:ea typeface="+mn-ea"/>
                        </a:rPr>
                        <a:t>入职时间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2026-07-07</a:t>
                      </a:r>
                      <a:endParaRPr lang="zh-CN" alt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导师</a:t>
                      </a:r>
                    </a:p>
                  </a:txBody>
                  <a:tcPr marL="12287" marR="12287" marT="1228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晏慧</a:t>
                      </a:r>
                    </a:p>
                  </a:txBody>
                  <a:tcPr marL="12287" marR="12287" marT="122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直接主管</a:t>
                      </a:r>
                    </a:p>
                  </a:txBody>
                  <a:tcPr marL="12287" marR="12287" marT="1228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高敏</a:t>
                      </a:r>
                    </a:p>
                  </a:txBody>
                  <a:tcPr marL="12287" marR="12287" marT="1228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673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工作背景</a:t>
                      </a:r>
                    </a:p>
                  </a:txBody>
                  <a:tcPr marL="12287" marR="12287" marT="12287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i="0" dirty="0">
                          <a:latin typeface="+mn-ea"/>
                          <a:ea typeface="+mn-ea"/>
                        </a:rPr>
                        <a:t>时间</a:t>
                      </a:r>
                    </a:p>
                  </a:txBody>
                  <a:tcPr marL="12287" marR="12287" marT="12287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1" i="0" dirty="0">
                          <a:latin typeface="+mn-ea"/>
                          <a:ea typeface="+mn-ea"/>
                        </a:rPr>
                        <a:t>公司名称</a:t>
                      </a:r>
                    </a:p>
                  </a:txBody>
                  <a:tcPr marL="12287" marR="12287" marT="12287" marB="0"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1" i="0" dirty="0">
                          <a:latin typeface="+mn-ea"/>
                          <a:ea typeface="+mn-ea"/>
                        </a:rPr>
                        <a:t>岗位</a:t>
                      </a:r>
                    </a:p>
                  </a:txBody>
                  <a:tcPr marL="12287" marR="12287" marT="12287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673">
                <a:tc vMerge="1">
                  <a:txBody>
                    <a:bodyPr/>
                    <a:lstStyle/>
                    <a:p>
                      <a:pPr algn="ctr"/>
                      <a:endParaRPr lang="zh-CN" altLang="en-US" sz="1100" b="1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1" dirty="0">
                          <a:latin typeface="+mn-ea"/>
                          <a:ea typeface="+mn-ea"/>
                        </a:rPr>
                        <a:t>2019.6-</a:t>
                      </a:r>
                      <a:r>
                        <a:rPr lang="zh-CN" altLang="en-US" sz="1600" b="0" i="1" dirty="0">
                          <a:latin typeface="+mn-ea"/>
                          <a:ea typeface="+mn-ea"/>
                        </a:rPr>
                        <a:t>至今</a:t>
                      </a:r>
                    </a:p>
                  </a:txBody>
                  <a:tcPr marL="12287" marR="12287" marT="12287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i="1" dirty="0">
                          <a:latin typeface="+mn-ea"/>
                          <a:ea typeface="+mn-ea"/>
                        </a:rPr>
                        <a:t>XXXXX</a:t>
                      </a:r>
                      <a:endParaRPr lang="zh-CN" altLang="en-US" sz="1600" b="0" i="1" dirty="0"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i="1" dirty="0">
                          <a:latin typeface="+mn-ea"/>
                          <a:ea typeface="+mn-ea"/>
                        </a:rPr>
                        <a:t>XXX</a:t>
                      </a:r>
                      <a:endParaRPr lang="zh-CN" altLang="en-US" sz="1600" b="0" i="1" dirty="0">
                        <a:latin typeface="+mn-ea"/>
                        <a:ea typeface="+mn-ea"/>
                      </a:endParaRPr>
                    </a:p>
                  </a:txBody>
                  <a:tcPr marL="12287" marR="12287" marT="12287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622401" y="3876361"/>
            <a:ext cx="10823985" cy="50348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64" b="1" dirty="0"/>
              <a:t>个人岗位职责：（你认为目前岗位职责是什么，目标是什么，在团队中的价值是什么）</a:t>
            </a:r>
            <a:endParaRPr lang="en-US" altLang="zh-CN" sz="2064" b="1" dirty="0"/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22401" y="4379847"/>
            <a:ext cx="10946208" cy="230785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17957" tIns="58979" rIns="117957" bIns="58979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defTabSz="1219170">
              <a:buNone/>
            </a:pPr>
            <a:r>
              <a:rPr lang="en-US" altLang="zh-CN" sz="1807" i="1" kern="0" dirty="0">
                <a:solidFill>
                  <a:prstClr val="black"/>
                </a:solidFill>
                <a:latin typeface="Arial"/>
                <a:ea typeface="微软雅黑"/>
              </a:rPr>
              <a:t>1</a:t>
            </a:r>
            <a:r>
              <a:rPr lang="zh-CN" altLang="en-US" sz="1807" i="1" kern="0" dirty="0">
                <a:solidFill>
                  <a:prstClr val="black"/>
                </a:solidFill>
                <a:latin typeface="Arial"/>
                <a:ea typeface="微软雅黑"/>
              </a:rPr>
              <a:t>、岗位职责：</a:t>
            </a:r>
            <a:endParaRPr lang="en-US" altLang="zh-CN" sz="1807" i="1" kern="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marL="0" indent="0" defTabSz="1219170">
              <a:buNone/>
            </a:pPr>
            <a:r>
              <a:rPr lang="en-US" altLang="zh-CN" sz="1807" i="1" kern="0" dirty="0">
                <a:solidFill>
                  <a:prstClr val="black"/>
                </a:solidFill>
                <a:latin typeface="Arial"/>
                <a:ea typeface="微软雅黑"/>
              </a:rPr>
              <a:t>2</a:t>
            </a:r>
            <a:r>
              <a:rPr lang="zh-CN" altLang="en-US" sz="1807" i="1" kern="0" dirty="0">
                <a:solidFill>
                  <a:prstClr val="black"/>
                </a:solidFill>
                <a:latin typeface="Arial"/>
                <a:ea typeface="微软雅黑"/>
              </a:rPr>
              <a:t>、岗位目标：</a:t>
            </a:r>
            <a:endParaRPr lang="en-US" altLang="zh-CN" sz="1807" i="1" kern="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marL="0" indent="0" defTabSz="1219170">
              <a:buNone/>
            </a:pPr>
            <a:r>
              <a:rPr lang="en-US" altLang="zh-CN" sz="1807" i="1" kern="0" dirty="0">
                <a:solidFill>
                  <a:prstClr val="black"/>
                </a:solidFill>
                <a:latin typeface="Arial"/>
                <a:ea typeface="微软雅黑"/>
              </a:rPr>
              <a:t>3</a:t>
            </a:r>
            <a:r>
              <a:rPr lang="zh-CN" altLang="en-US" sz="1807" i="1" kern="0" dirty="0">
                <a:solidFill>
                  <a:prstClr val="black"/>
                </a:solidFill>
                <a:latin typeface="Arial"/>
                <a:ea typeface="微软雅黑"/>
              </a:rPr>
              <a:t>、团队认知：</a:t>
            </a:r>
            <a:endParaRPr lang="en-US" altLang="zh-CN" sz="1807" i="1" kern="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marL="0" indent="0" defTabSz="1219170">
              <a:buNone/>
            </a:pPr>
            <a:r>
              <a:rPr lang="en-US" altLang="zh-CN" sz="1807" i="1" kern="0" dirty="0">
                <a:solidFill>
                  <a:prstClr val="black"/>
                </a:solidFill>
                <a:latin typeface="Arial"/>
                <a:ea typeface="微软雅黑"/>
              </a:rPr>
              <a:t>4</a:t>
            </a:r>
            <a:r>
              <a:rPr lang="zh-CN" altLang="en-US" sz="1807" i="1" kern="0" dirty="0">
                <a:solidFill>
                  <a:prstClr val="black"/>
                </a:solidFill>
                <a:latin typeface="Arial"/>
                <a:ea typeface="微软雅黑"/>
              </a:rPr>
              <a:t>、其他：</a:t>
            </a:r>
            <a:endParaRPr lang="en-US" altLang="zh-CN" sz="1807" i="1" kern="0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7240777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09806" y="298401"/>
            <a:ext cx="7016751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defTabSz="914377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2400" b="1" dirty="0">
                <a:solidFill>
                  <a:prstClr val="black"/>
                </a:solidFill>
              </a:rPr>
              <a:t>阶段培养计划及完成情况</a:t>
            </a:r>
            <a:endParaRPr lang="en-US" altLang="zh-CN" sz="2400" b="1" dirty="0">
              <a:solidFill>
                <a:srgbClr val="000000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03720" y="1604798"/>
          <a:ext cx="11137237" cy="4800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3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0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9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7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2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794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3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总体目标</a:t>
                      </a:r>
                    </a:p>
                  </a:txBody>
                  <a:tcPr marL="117953" marR="117953" marT="58988" marB="58988" anchor="ctr"/>
                </a:tc>
                <a:tc gridSpan="5"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683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23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阶段目标</a:t>
                      </a:r>
                    </a:p>
                  </a:txBody>
                  <a:tcPr marL="117953" marR="117953" marT="58988" marB="58988" anchor="ctr"/>
                </a:tc>
                <a:tc>
                  <a:txBody>
                    <a:bodyPr/>
                    <a:lstStyle/>
                    <a:p>
                      <a:endParaRPr lang="en-US" altLang="zh-CN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3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</a:p>
                  </a:txBody>
                  <a:tcPr marL="117953" marR="117953" marT="58988" marB="589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3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</a:p>
                  </a:txBody>
                  <a:tcPr marL="117953" marR="117953" marT="58988" marB="58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3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任务</a:t>
                      </a:r>
                    </a:p>
                  </a:txBody>
                  <a:tcPr marL="117953" marR="117953" marT="58988" marB="589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3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完成情况</a:t>
                      </a:r>
                    </a:p>
                  </a:txBody>
                  <a:tcPr marL="117953" marR="117953" marT="58988" marB="589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46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第一阶段</a:t>
                      </a:r>
                      <a:endParaRPr lang="en-US" altLang="zh-CN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 anchor="ctr"/>
                </a:tc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/>
                </a:tc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463">
                <a:tc vMerge="1"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3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第二阶段</a:t>
                      </a:r>
                      <a:endParaRPr lang="en-US" altLang="zh-CN" sz="23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7953" marR="117953" marT="58988" marB="58988" anchor="ctr"/>
                </a:tc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/>
                </a:tc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463">
                <a:tc vMerge="1"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第三阶段</a:t>
                      </a:r>
                    </a:p>
                  </a:txBody>
                  <a:tcPr marL="117953" marR="117953" marT="58988" marB="58988" anchor="ctr"/>
                </a:tc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/>
                </a:tc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7953" marR="117953" marT="58988" marB="589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35361" y="743023"/>
            <a:ext cx="3050835" cy="5798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lnSpc>
                <a:spcPct val="200000"/>
              </a:lnSpc>
            </a:pPr>
            <a:r>
              <a:rPr lang="zh-CN" altLang="en-US" sz="1867" dirty="0">
                <a:solidFill>
                  <a:srgbClr val="EEECE1">
                    <a:lumMod val="75000"/>
                  </a:srgbClr>
                </a:solidFill>
                <a:latin typeface="Arial"/>
                <a:ea typeface="微软雅黑"/>
              </a:rPr>
              <a:t>此部分请选择重点进行概述</a:t>
            </a:r>
            <a:endParaRPr lang="en-US" altLang="zh-CN" sz="1867" dirty="0">
              <a:solidFill>
                <a:srgbClr val="EEECE1">
                  <a:lumMod val="75000"/>
                </a:srgbClr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56837132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 txBox="1">
            <a:spLocks/>
          </p:cNvSpPr>
          <p:nvPr/>
        </p:nvSpPr>
        <p:spPr bwMode="auto">
          <a:xfrm>
            <a:off x="335361" y="333375"/>
            <a:ext cx="7016751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defTabSz="1219170">
              <a:buNone/>
            </a:pP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</a:rPr>
              <a:t>重点业绩展示及总结</a:t>
            </a:r>
          </a:p>
        </p:txBody>
      </p:sp>
      <p:sp>
        <p:nvSpPr>
          <p:cNvPr id="29" name="内容占位符 2"/>
          <p:cNvSpPr txBox="1">
            <a:spLocks/>
          </p:cNvSpPr>
          <p:nvPr/>
        </p:nvSpPr>
        <p:spPr>
          <a:xfrm>
            <a:off x="446485" y="1628479"/>
            <a:ext cx="8418512" cy="1295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defTabSz="914377">
              <a:buNone/>
              <a:defRPr/>
            </a:pPr>
            <a:endParaRPr lang="zh-CN" altLang="en-US" sz="2400" kern="0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46485" y="908050"/>
            <a:ext cx="11026112" cy="5017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p"/>
              <a:defRPr sz="165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defTabSz="1219170">
              <a:buNone/>
            </a:pPr>
            <a:r>
              <a:rPr lang="zh-CN" altLang="en-US" sz="1867" kern="0" dirty="0">
                <a:solidFill>
                  <a:srgbClr val="EEECE1">
                    <a:lumMod val="75000"/>
                  </a:srgbClr>
                </a:solidFill>
                <a:latin typeface="Arial"/>
                <a:ea typeface="微软雅黑"/>
              </a:rPr>
              <a:t>工作亮点等。</a:t>
            </a:r>
          </a:p>
        </p:txBody>
      </p:sp>
    </p:spTree>
    <p:extLst>
      <p:ext uri="{BB962C8B-B14F-4D97-AF65-F5344CB8AC3E}">
        <p14:creationId xmlns:p14="http://schemas.microsoft.com/office/powerpoint/2010/main" val="294631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 txBox="1">
            <a:spLocks/>
          </p:cNvSpPr>
          <p:nvPr/>
        </p:nvSpPr>
        <p:spPr bwMode="auto">
          <a:xfrm>
            <a:off x="335361" y="333375"/>
            <a:ext cx="7016751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defTabSz="1219170">
              <a:buNone/>
            </a:pPr>
            <a:r>
              <a:rPr lang="zh-CN" altLang="en-US" sz="2400" b="1" kern="0" dirty="0">
                <a:solidFill>
                  <a:prstClr val="black"/>
                </a:solidFill>
              </a:rPr>
              <a:t>自我评价</a:t>
            </a:r>
          </a:p>
        </p:txBody>
      </p:sp>
      <p:sp>
        <p:nvSpPr>
          <p:cNvPr id="29" name="内容占位符 2"/>
          <p:cNvSpPr txBox="1">
            <a:spLocks/>
          </p:cNvSpPr>
          <p:nvPr/>
        </p:nvSpPr>
        <p:spPr>
          <a:xfrm>
            <a:off x="446485" y="1628479"/>
            <a:ext cx="8418512" cy="1295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defTabSz="914377">
              <a:buNone/>
              <a:defRPr/>
            </a:pPr>
            <a:endParaRPr lang="zh-CN" altLang="en-US" sz="2400" kern="0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46486" y="1124744"/>
            <a:ext cx="5745524" cy="547260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  <a:defRPr sz="19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p"/>
              <a:defRPr sz="16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  <a:defRPr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0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defTabSz="1219170">
              <a:buFont typeface="Wingdings" panose="05000000000000000000" pitchFamily="2" charset="2"/>
              <a:buChar char="l"/>
            </a:pPr>
            <a:r>
              <a:rPr lang="zh-CN" altLang="en-US" sz="2600" kern="0" dirty="0">
                <a:solidFill>
                  <a:prstClr val="black"/>
                </a:solidFill>
                <a:latin typeface="Arial"/>
                <a:ea typeface="微软雅黑"/>
              </a:rPr>
              <a:t>优势及提升措施：</a:t>
            </a:r>
            <a:endParaRPr lang="en-US" altLang="zh-CN" sz="2600" kern="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marL="342891" indent="-342891" defTabSz="1219170">
              <a:buFont typeface="Wingdings" pitchFamily="2" charset="2"/>
              <a:buChar char="ü"/>
            </a:pPr>
            <a:r>
              <a:rPr lang="en-US" altLang="zh-CN" sz="2323" kern="0" dirty="0">
                <a:solidFill>
                  <a:prstClr val="black"/>
                </a:solidFill>
                <a:latin typeface="Arial"/>
                <a:ea typeface="微软雅黑"/>
              </a:rPr>
              <a:t> </a:t>
            </a:r>
          </a:p>
          <a:p>
            <a:pPr marL="342891" indent="-342891" defTabSz="1219170">
              <a:buFont typeface="Wingdings" pitchFamily="2" charset="2"/>
              <a:buChar char="ü"/>
            </a:pPr>
            <a:r>
              <a:rPr lang="en-US" altLang="zh-CN" sz="2323" kern="0" dirty="0">
                <a:solidFill>
                  <a:prstClr val="black"/>
                </a:solidFill>
                <a:latin typeface="Arial"/>
                <a:ea typeface="微软雅黑"/>
              </a:rPr>
              <a:t> </a:t>
            </a:r>
          </a:p>
          <a:p>
            <a:pPr marL="342891" indent="-342891" defTabSz="1219170">
              <a:buFont typeface="Wingdings" pitchFamily="2" charset="2"/>
              <a:buChar char="ü"/>
            </a:pPr>
            <a:r>
              <a:rPr lang="en-US" altLang="zh-CN" sz="2323" kern="0" dirty="0">
                <a:solidFill>
                  <a:prstClr val="black"/>
                </a:solidFill>
                <a:latin typeface="Arial"/>
                <a:ea typeface="微软雅黑"/>
              </a:rPr>
              <a:t> </a:t>
            </a:r>
          </a:p>
          <a:p>
            <a:pPr marL="342891" indent="-342891" defTabSz="1219170">
              <a:buFont typeface="Wingdings" pitchFamily="2" charset="2"/>
              <a:buChar char="ü"/>
            </a:pPr>
            <a:r>
              <a:rPr lang="en-US" altLang="zh-CN" sz="2323" kern="0" dirty="0">
                <a:solidFill>
                  <a:prstClr val="black"/>
                </a:solidFill>
                <a:latin typeface="Arial"/>
                <a:ea typeface="微软雅黑"/>
              </a:rPr>
              <a:t> </a:t>
            </a:r>
          </a:p>
          <a:p>
            <a:pPr marL="342891" indent="-342891" defTabSz="1219170">
              <a:buFont typeface="Wingdings" pitchFamily="2" charset="2"/>
              <a:buChar char="ü"/>
            </a:pPr>
            <a:r>
              <a:rPr lang="en-US" altLang="zh-CN" sz="2323" kern="0" dirty="0">
                <a:solidFill>
                  <a:prstClr val="black"/>
                </a:solidFill>
                <a:latin typeface="Arial"/>
                <a:ea typeface="微软雅黑"/>
              </a:rPr>
              <a:t> </a:t>
            </a:r>
            <a:endParaRPr lang="en-US" altLang="zh-CN" sz="2600" kern="0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6480043" y="1151821"/>
            <a:ext cx="5376597" cy="54455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17957" tIns="58979" rIns="117957" bIns="58979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  <a:defRPr sz="2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2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 sz="2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defTabSz="1219170">
              <a:buFont typeface="Wingdings" panose="05000000000000000000" pitchFamily="2" charset="2"/>
              <a:buChar char="l"/>
            </a:pPr>
            <a:r>
              <a:rPr lang="zh-CN" altLang="en-US" sz="2667" kern="0" dirty="0">
                <a:solidFill>
                  <a:prstClr val="black"/>
                </a:solidFill>
                <a:latin typeface="Arial"/>
                <a:ea typeface="微软雅黑"/>
              </a:rPr>
              <a:t>不足及改进计划：</a:t>
            </a:r>
            <a:endParaRPr lang="en-US" altLang="zh-CN" sz="2667" kern="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marL="457189" indent="-457189" defTabSz="1219170">
              <a:buFont typeface="Wingdings" panose="05000000000000000000" pitchFamily="2" charset="2"/>
              <a:buChar char="ü"/>
            </a:pPr>
            <a:r>
              <a:rPr lang="en-US" altLang="zh-CN" sz="2323" kern="0" dirty="0">
                <a:solidFill>
                  <a:prstClr val="black"/>
                </a:solidFill>
                <a:latin typeface="Arial"/>
                <a:ea typeface="微软雅黑"/>
              </a:rPr>
              <a:t> </a:t>
            </a:r>
          </a:p>
          <a:p>
            <a:pPr marL="457189" indent="-457189" defTabSz="1219170">
              <a:buFont typeface="Wingdings" panose="05000000000000000000" pitchFamily="2" charset="2"/>
              <a:buChar char="ü"/>
            </a:pPr>
            <a:r>
              <a:rPr lang="en-US" altLang="zh-CN" sz="2323" kern="0" dirty="0">
                <a:solidFill>
                  <a:prstClr val="black"/>
                </a:solidFill>
                <a:latin typeface="Arial"/>
                <a:ea typeface="微软雅黑"/>
              </a:rPr>
              <a:t>  </a:t>
            </a:r>
          </a:p>
          <a:p>
            <a:pPr marL="457189" indent="-457189" defTabSz="1219170">
              <a:buFont typeface="Wingdings" panose="05000000000000000000" pitchFamily="2" charset="2"/>
              <a:buChar char="ü"/>
            </a:pPr>
            <a:r>
              <a:rPr lang="en-US" altLang="zh-CN" sz="2323" kern="0" dirty="0">
                <a:solidFill>
                  <a:prstClr val="black"/>
                </a:solidFill>
                <a:latin typeface="微软雅黑"/>
                <a:ea typeface="微软雅黑"/>
              </a:rPr>
              <a:t> </a:t>
            </a:r>
          </a:p>
          <a:p>
            <a:pPr marL="457189" indent="-457189" defTabSz="1219170">
              <a:buFont typeface="Wingdings" panose="05000000000000000000" pitchFamily="2" charset="2"/>
              <a:buChar char="ü"/>
            </a:pPr>
            <a:r>
              <a:rPr lang="en-US" altLang="zh-CN" sz="2323" kern="0" dirty="0">
                <a:solidFill>
                  <a:prstClr val="black"/>
                </a:solidFill>
                <a:latin typeface="微软雅黑"/>
                <a:ea typeface="微软雅黑"/>
              </a:rPr>
              <a:t>  </a:t>
            </a:r>
          </a:p>
          <a:p>
            <a:pPr marL="457189" indent="-457189" defTabSz="1219170">
              <a:buFont typeface="Wingdings" panose="05000000000000000000" pitchFamily="2" charset="2"/>
              <a:buChar char="ü"/>
            </a:pPr>
            <a:r>
              <a:rPr lang="en-US" altLang="zh-CN" sz="2323" kern="0" dirty="0">
                <a:solidFill>
                  <a:prstClr val="black"/>
                </a:solidFill>
                <a:latin typeface="微软雅黑"/>
                <a:ea typeface="微软雅黑"/>
              </a:rPr>
              <a:t> </a:t>
            </a:r>
            <a:endParaRPr lang="zh-CN" altLang="en-US" sz="2323" kern="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518264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377">
              <a:defRPr/>
            </a:pPr>
            <a:fld id="{8A155236-8A8A-4C0A-885F-CE436FD7E267}" type="slidenum">
              <a:rPr lang="en-US" altLang="zh-CN">
                <a:solidFill>
                  <a:prstClr val="black"/>
                </a:solidFill>
              </a:rPr>
              <a:pPr defTabSz="914377">
                <a:defRPr/>
              </a:pPr>
              <a:t>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 bwMode="auto">
          <a:xfrm>
            <a:off x="407369" y="332657"/>
            <a:ext cx="7016751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defTabSz="1219170">
              <a:buNone/>
            </a:pPr>
            <a:r>
              <a:rPr lang="zh-CN" altLang="en-US" sz="2400" b="1" kern="0" dirty="0">
                <a:solidFill>
                  <a:prstClr val="black"/>
                </a:solidFill>
              </a:rPr>
              <a:t>未来工作规划</a:t>
            </a:r>
          </a:p>
        </p:txBody>
      </p:sp>
      <p:sp>
        <p:nvSpPr>
          <p:cNvPr id="9" name="内容占位符 3"/>
          <p:cNvSpPr txBox="1">
            <a:spLocks/>
          </p:cNvSpPr>
          <p:nvPr/>
        </p:nvSpPr>
        <p:spPr>
          <a:xfrm>
            <a:off x="815414" y="948181"/>
            <a:ext cx="8163759" cy="5394705"/>
          </a:xfrm>
          <a:prstGeom prst="rect">
            <a:avLst/>
          </a:prstGeom>
        </p:spPr>
        <p:txBody>
          <a:bodyPr/>
          <a:lstStyle>
            <a:lvl1pPr marL="257175" indent="-2571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p"/>
              <a:defRPr sz="165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defTabSz="1219170">
              <a:buNone/>
            </a:pPr>
            <a:r>
              <a:rPr lang="zh-CN" altLang="en-US" sz="2133" kern="0" dirty="0">
                <a:solidFill>
                  <a:srgbClr val="EEECE1">
                    <a:lumMod val="75000"/>
                  </a:srgbClr>
                </a:solidFill>
                <a:latin typeface="Arial"/>
                <a:ea typeface="微软雅黑"/>
              </a:rPr>
              <a:t>未来工作规划及展望</a:t>
            </a:r>
          </a:p>
        </p:txBody>
      </p:sp>
    </p:spTree>
    <p:extLst>
      <p:ext uri="{BB962C8B-B14F-4D97-AF65-F5344CB8AC3E}">
        <p14:creationId xmlns:p14="http://schemas.microsoft.com/office/powerpoint/2010/main" val="91006590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 txBox="1">
            <a:spLocks/>
          </p:cNvSpPr>
          <p:nvPr/>
        </p:nvSpPr>
        <p:spPr bwMode="auto">
          <a:xfrm>
            <a:off x="407369" y="334045"/>
            <a:ext cx="7016751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defTabSz="1219170">
              <a:buNone/>
            </a:pPr>
            <a:r>
              <a:rPr lang="zh-CN" altLang="en-US" sz="2400" b="1" kern="0" dirty="0">
                <a:solidFill>
                  <a:prstClr val="black"/>
                </a:solidFill>
              </a:rPr>
              <a:t>一点建议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719403" y="1081165"/>
            <a:ext cx="8957847" cy="5770441"/>
          </a:xfrm>
          <a:prstGeom prst="rect">
            <a:avLst/>
          </a:prstGeom>
        </p:spPr>
        <p:txBody>
          <a:bodyPr/>
          <a:lstStyle>
            <a:lvl1pPr marL="257175" indent="-2571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p"/>
              <a:defRPr sz="165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05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891" indent="-342891" defTabSz="1219170"/>
            <a:r>
              <a:rPr lang="zh-CN" altLang="en-US" sz="1867" kern="0" dirty="0">
                <a:solidFill>
                  <a:srgbClr val="EEECE1">
                    <a:lumMod val="75000"/>
                  </a:srgbClr>
                </a:solidFill>
                <a:latin typeface="Arial"/>
                <a:ea typeface="微软雅黑"/>
              </a:rPr>
              <a:t>针对部门整体的建议</a:t>
            </a:r>
            <a:endParaRPr lang="en-US" altLang="zh-CN" sz="1867" kern="0" dirty="0">
              <a:solidFill>
                <a:srgbClr val="EEECE1">
                  <a:lumMod val="75000"/>
                </a:srgbClr>
              </a:solidFill>
              <a:latin typeface="Arial"/>
              <a:ea typeface="微软雅黑"/>
            </a:endParaRPr>
          </a:p>
          <a:p>
            <a:pPr marL="342891" indent="-342891" defTabSz="1219170"/>
            <a:endParaRPr lang="en-US" altLang="zh-CN" sz="1867" kern="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marL="342891" indent="-342891" defTabSz="1219170"/>
            <a:endParaRPr lang="en-US" altLang="zh-CN" sz="1867" kern="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marL="0" indent="0" defTabSz="1219170">
              <a:buNone/>
            </a:pPr>
            <a:endParaRPr lang="en-US" altLang="zh-CN" sz="1867" kern="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marL="342891" indent="-342891" defTabSz="1219170"/>
            <a:r>
              <a:rPr lang="zh-CN" altLang="en-US" sz="1867" kern="0" dirty="0">
                <a:solidFill>
                  <a:srgbClr val="EEECE1">
                    <a:lumMod val="75000"/>
                  </a:srgbClr>
                </a:solidFill>
                <a:latin typeface="Arial"/>
                <a:ea typeface="微软雅黑"/>
              </a:rPr>
              <a:t>针对组内的建议</a:t>
            </a:r>
          </a:p>
        </p:txBody>
      </p:sp>
    </p:spTree>
    <p:extLst>
      <p:ext uri="{BB962C8B-B14F-4D97-AF65-F5344CB8AC3E}">
        <p14:creationId xmlns:p14="http://schemas.microsoft.com/office/powerpoint/2010/main" val="260281460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9459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109144710"/>
  <p:tag name="MH_LIBRARY" val="CONTENTS"/>
  <p:tag name="MH_TYPE" val="NUMBER"/>
  <p:tag name="ID" val="545262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109144710"/>
  <p:tag name="MH_LIBRARY" val="CONTENTS"/>
  <p:tag name="MH_TYPE" val="NUMBER"/>
  <p:tag name="ID" val="545262"/>
  <p:tag name="MH_ORDER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109144710"/>
  <p:tag name="MH_LIBRARY" val="CONTENTS"/>
  <p:tag name="MH_TYPE" val="NUMBER"/>
  <p:tag name="ID" val="545262"/>
  <p:tag name="MH_ORDER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109144710"/>
  <p:tag name="MH_LIBRARY" val="CONTENTS"/>
  <p:tag name="MH_TYPE" val="ENTRY"/>
  <p:tag name="ID" val="545262"/>
  <p:tag name="MH_ORDER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109144710"/>
  <p:tag name="MH_LIBRARY" val="CONTENTS"/>
  <p:tag name="MH_TYPE" val="ENTRY"/>
  <p:tag name="ID" val="545262"/>
  <p:tag name="MH_ORDER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109144710"/>
  <p:tag name="MH_LIBRARY" val="CONTENTS"/>
  <p:tag name="MH_TYPE" val="ENTRY"/>
  <p:tag name="ID" val="545262"/>
  <p:tag name="MH_ORDER" val="1"/>
</p:tagLst>
</file>

<file path=ppt/theme/theme1.xml><?xml version="1.0" encoding="utf-8"?>
<a:theme xmlns:a="http://schemas.openxmlformats.org/drawingml/2006/main" name="海康威视PPT模板-2011（微软雅黑+Vedana） - 副本">
  <a:themeElements>
    <a:clrScheme name="0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0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270</Words>
  <Application>Microsoft Office PowerPoint</Application>
  <PresentationFormat>宽屏</PresentationFormat>
  <Paragraphs>86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等线</vt:lpstr>
      <vt:lpstr>黑体</vt:lpstr>
      <vt:lpstr>宋体</vt:lpstr>
      <vt:lpstr>微软雅黑</vt:lpstr>
      <vt:lpstr>Arial</vt:lpstr>
      <vt:lpstr>Calibri</vt:lpstr>
      <vt:lpstr>Verdana</vt:lpstr>
      <vt:lpstr>Wingdings</vt:lpstr>
      <vt:lpstr>海康威视PPT模板-2011（微软雅黑+Vedana） - 副本</vt:lpstr>
      <vt:lpstr>04</vt:lpstr>
      <vt:lpstr>自定义设计方案</vt:lpstr>
      <vt:lpstr>备注（此页不展示）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备注（此页不展示）</dc:title>
  <dc:creator>司博5</dc:creator>
  <cp:lastModifiedBy>司博5</cp:lastModifiedBy>
  <cp:revision>1</cp:revision>
  <dcterms:created xsi:type="dcterms:W3CDTF">2026-09-15T12:38:39Z</dcterms:created>
  <dcterms:modified xsi:type="dcterms:W3CDTF">2026-09-15T12:42:10Z</dcterms:modified>
</cp:coreProperties>
</file>